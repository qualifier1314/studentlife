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学生行为多层网络构建与可视化报告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静态综合单层 + 多层可行性 + 关键节点识别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建模设定（静态与通信属性）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不做时间序列：全期静态网络</a:t>
            </a:r>
          </a:p>
          <a:p>
            <a:pPr>
              <a:defRPr sz="1800"/>
            </a:pPr>
            <a:r>
              <a:t>存在即为边：任意时刻有交互即连边（导出无权版）</a:t>
            </a:r>
          </a:p>
          <a:p>
            <a:pPr>
              <a:defRPr sz="1800"/>
            </a:pPr>
            <a:r>
              <a:t>同时导出加权版：强度为次数/时长等累计</a:t>
            </a:r>
          </a:p>
          <a:p>
            <a:pPr>
              <a:defRPr sz="1800"/>
            </a:pPr>
            <a:r>
              <a:t>communication 不做学生-学生层，作为节点属性（features.csv）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Physical（物理接近+共同就餐）静态综合层</a:t>
            </a:r>
          </a:p>
        </p:txBody>
      </p:sp>
      <p:pic>
        <p:nvPicPr>
          <p:cNvPr id="3" name="Picture 2" descr="Phy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3474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为什么：反映线下真实接触与共同活动的社会联系</a:t>
            </a:r>
          </a:p>
          <a:p>
            <a:pPr>
              <a:defRPr sz="1600"/>
            </a:pPr>
            <a:r>
              <a:t>sensing 数据集：接近事件（uid_i, uid_j, ts, 距离/强度）</a:t>
            </a:r>
          </a:p>
          <a:p>
            <a:pPr>
              <a:defRPr sz="1600"/>
            </a:pPr>
            <a:r>
              <a:t>dining 数据集：同地同时间就餐（uid, ts, 地点/餐厅）</a:t>
            </a:r>
          </a:p>
          <a:p>
            <a:pPr>
              <a:defRPr sz="1600"/>
            </a:pPr>
            <a:r>
              <a:t>构边：累计接触时长 + 共餐次数；各源先归一化再合并</a:t>
            </a:r>
          </a:p>
          <a:p>
            <a:pPr>
              <a:defRPr sz="1600"/>
            </a:pPr>
            <a:r>
              <a:t>静态规则：全期存在即为边；导出无权与加权版本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Behavior（日历共现+应用相似度）静态综合层</a:t>
            </a:r>
          </a:p>
        </p:txBody>
      </p:sp>
      <p:pic>
        <p:nvPicPr>
          <p:cNvPr id="3" name="Picture 2" descr="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3474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为什么：捕捉行为相似与协作关系（同一活动、相近习惯）</a:t>
            </a:r>
          </a:p>
          <a:p>
            <a:pPr>
              <a:defRPr sz="1600"/>
            </a:pPr>
            <a:r>
              <a:t>calendar：事件起止与参与者，统计两两共现次数</a:t>
            </a:r>
          </a:p>
          <a:p>
            <a:pPr>
              <a:defRPr sz="1600"/>
            </a:pPr>
            <a:r>
              <a:t>app_usage：应用使用频谱（包名×时间），计算余弦相似度</a:t>
            </a:r>
          </a:p>
          <a:p>
            <a:pPr>
              <a:defRPr sz="1600"/>
            </a:pPr>
            <a:r>
              <a:t>构边：共现计数 + 相似度加权；归一化后合并</a:t>
            </a:r>
          </a:p>
          <a:p>
            <a:pPr>
              <a:defRPr sz="1600"/>
            </a:pPr>
            <a:r>
              <a:t>说明：当前静态层使用 calendar+app_usage（rawaccfeat 可选）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Education（同课共修）静态层</a:t>
            </a:r>
          </a:p>
        </p:txBody>
      </p:sp>
      <p:pic>
        <p:nvPicPr>
          <p:cNvPr id="3" name="Picture 2" descr="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3474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为什么：课程共修形成稳定学习社群与协作网络</a:t>
            </a:r>
          </a:p>
          <a:p>
            <a:pPr>
              <a:defRPr sz="1600"/>
            </a:pPr>
            <a:r>
              <a:t>数据集：education/class.csv（uid + 课程代码列表）</a:t>
            </a:r>
          </a:p>
          <a:p>
            <a:pPr>
              <a:defRPr sz="1600"/>
            </a:pPr>
            <a:r>
              <a:t>构边：共享课程计数作为边权；共享课程数&gt;0 即连边</a:t>
            </a:r>
          </a:p>
          <a:p>
            <a:pPr>
              <a:defRPr sz="1600"/>
            </a:pPr>
            <a:r>
              <a:t>说明：可构学生-课程二分图，本报告采用共修投影</a:t>
            </a:r>
          </a:p>
          <a:p>
            <a:pPr>
              <a:defRPr sz="1600"/>
            </a:pPr>
            <a:r>
              <a:t>静态规则：全期存在即为边；导出无权/加权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Communication（节点属性层）</a:t>
            </a:r>
          </a:p>
        </p:txBody>
      </p:sp>
      <p:pic>
        <p:nvPicPr>
          <p:cNvPr id="3" name="Picture 2" descr="Communication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3474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为什么：用通信活跃度刻画节点属性，辅助解释结构</a:t>
            </a:r>
          </a:p>
          <a:p>
            <a:pPr>
              <a:defRPr sz="1600"/>
            </a:pPr>
            <a:r>
              <a:t>数据来源：call_log/call_log_*.csv；sms/sms_*.csv（匿名号码/地址）</a:t>
            </a:r>
          </a:p>
          <a:p>
            <a:pPr>
              <a:defRPr sz="1600"/>
            </a:pPr>
            <a:r>
              <a:t>特征：calls_total、sms_total、comm_freq_day/week、unique_contacts、entropy</a:t>
            </a:r>
          </a:p>
          <a:p>
            <a:pPr>
              <a:defRPr sz="1600"/>
            </a:pPr>
            <a:r>
              <a:t>限制：无法识别对方学生，不构边；仅保留节点属性</a:t>
            </a:r>
          </a:p>
          <a:p>
            <a:pPr>
              <a:defRPr sz="1600"/>
            </a:pPr>
            <a:r>
              <a:t>左图：unique_contacts 直方图 + 每周频次散点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多层网络（三层：Physical + Behavior + Education）</a:t>
            </a:r>
          </a:p>
        </p:txBody>
      </p:sp>
      <p:pic>
        <p:nvPicPr>
          <p:cNvPr id="3" name="Picture 2" descr="Multiplex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34747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为什么：融合多维关系提升鲁棒性与解释力</a:t>
            </a:r>
          </a:p>
          <a:p>
            <a:pPr>
              <a:defRPr sz="1600"/>
            </a:pPr>
            <a:r>
              <a:t>数据来源：各静态层（Physical、Behavior、Education）归一化合并</a:t>
            </a:r>
          </a:p>
          <a:p>
            <a:pPr>
              <a:defRPr sz="1600"/>
            </a:pPr>
            <a:r>
              <a:t>层间耦合：omega·I（同一学生跨层相连）</a:t>
            </a:r>
          </a:p>
          <a:p>
            <a:pPr>
              <a:defRPr sz="1600"/>
            </a:pPr>
            <a:r>
              <a:t>导出：supra_adjacency.csv；multi_layer_edges.csv</a:t>
            </a:r>
          </a:p>
          <a:p>
            <a:pPr>
              <a:defRPr sz="1600"/>
            </a:pPr>
            <a:r>
              <a:t>可视化：Multiplex3D.png（三层示意图)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多层网络可行性与关键节点识别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多层构建链路完整：静态层、编号统一、supra矩阵与边导出已验证</a:t>
            </a:r>
          </a:p>
          <a:p>
            <a:pPr>
              <a:defRPr sz="1800"/>
            </a:pPr>
            <a:r>
              <a:t>可视化：3D多层示意（Multiplex3D.png），可用于演示</a:t>
            </a:r>
          </a:p>
          <a:p>
            <a:pPr>
              <a:defRPr sz="1800"/>
            </a:pPr>
            <a:r>
              <a:t>关键节点识别可行：层感知中心性、跨层参与系数、多层k-core等</a:t>
            </a:r>
          </a:p>
          <a:p>
            <a:pPr>
              <a:defRPr sz="1800"/>
            </a:pPr>
            <a:r>
              <a:t>建议做参数敏感性分析（层间耦合omega、各层归一化方式）</a:t>
            </a:r>
          </a:p>
          <a:p>
            <a:pPr>
              <a:defRPr sz="1800"/>
            </a:pPr>
            <a:r>
              <a:t>数据质量与节点统一影响跨层一致性，需做缺失与稳健处理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