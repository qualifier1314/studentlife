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学生行为多层网络构建与可视化报告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静态综合单层 + 多层可行性 + 关键节点识别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建模设定（静态与通信属性）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不做时间序列：全期静态网络</a:t>
            </a:r>
          </a:p>
          <a:p>
            <a:pPr>
              <a:defRPr sz="1800"/>
            </a:pPr>
            <a:r>
              <a:t>存在即为边：任意时刻有交互即连边（导出无权版）</a:t>
            </a:r>
          </a:p>
          <a:p>
            <a:pPr>
              <a:defRPr sz="1800"/>
            </a:pPr>
            <a:r>
              <a:t>同时导出加权版：强度为次数/时长等累计</a:t>
            </a:r>
          </a:p>
          <a:p>
            <a:pPr>
              <a:defRPr sz="1800"/>
            </a:pPr>
            <a:r>
              <a:t>communication 不做学生-学生层，作为节点属性（features.csv）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Physical（物理接近+共同就餐）静态综合层</a:t>
            </a:r>
          </a:p>
        </p:txBody>
      </p:sp>
      <p:pic>
        <p:nvPicPr>
          <p:cNvPr id="3" name="Picture 2" descr="Phy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7607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2743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数据来源：sensing/**/*.csv；dining/** 或 dinning/**</a:t>
            </a:r>
          </a:p>
          <a:p>
            <a:pPr>
              <a:defRPr sz="1600"/>
            </a:pPr>
            <a:r>
              <a:t>字段示例：时间戳、目标ID、强度/距离；就餐时间与地点</a:t>
            </a:r>
          </a:p>
          <a:p>
            <a:pPr>
              <a:defRPr sz="1600"/>
            </a:pPr>
            <a:r>
              <a:t>构边逻辑：近距离累计接触时长 + 同地同时间就餐共现次数</a:t>
            </a:r>
          </a:p>
          <a:p>
            <a:pPr>
              <a:defRPr sz="1600"/>
            </a:pPr>
            <a:r>
              <a:t>静态规则：全期存在即为边；各源权重先归一后合并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Behavior（日历共现+应用相似度）静态综合层</a:t>
            </a:r>
          </a:p>
        </p:txBody>
      </p:sp>
      <p:pic>
        <p:nvPicPr>
          <p:cNvPr id="3" name="Picture 2" descr="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7607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2743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数据来源：calendar/*.csv；app_usage/*.csv</a:t>
            </a:r>
          </a:p>
          <a:p>
            <a:pPr>
              <a:defRPr sz="1600"/>
            </a:pPr>
            <a:r>
              <a:t>字段示例：事件ID、起止时间、参与者；应用包名/时间戳</a:t>
            </a:r>
          </a:p>
          <a:p>
            <a:pPr>
              <a:defRPr sz="1600"/>
            </a:pPr>
            <a:r>
              <a:t>构边逻辑：日历两两共现计数；应用使用相似度（余弦，阈值+top_k）</a:t>
            </a:r>
          </a:p>
          <a:p>
            <a:pPr>
              <a:defRPr sz="1600"/>
            </a:pPr>
            <a:r>
              <a:t>合并方式：两图权重归一化后合并为静态行为层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Education（同课共修）静态层</a:t>
            </a:r>
          </a:p>
        </p:txBody>
      </p:sp>
      <p:pic>
        <p:nvPicPr>
          <p:cNvPr id="3" name="Picture 2" descr="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7607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2743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数据来源：education/**/class.csv（首列uid，其余为课程代码）</a:t>
            </a:r>
          </a:p>
          <a:p>
            <a:pPr>
              <a:defRPr sz="1600"/>
            </a:pPr>
            <a:r>
              <a:t>构边逻辑：学生两两共享课程计数作为边权</a:t>
            </a:r>
          </a:p>
          <a:p>
            <a:pPr>
              <a:defRPr sz="1600"/>
            </a:pPr>
            <a:r>
              <a:t>说明：支持学生-课程二分图，但多层采用共修投影</a:t>
            </a:r>
          </a:p>
          <a:p>
            <a:pPr>
              <a:defRPr sz="1600"/>
            </a:pPr>
            <a:r>
              <a:t>静态规则：全期存在即为边（共享课程数&gt;0）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Communication（节点属性层）</a:t>
            </a:r>
          </a:p>
        </p:txBody>
      </p:sp>
      <p:pic>
        <p:nvPicPr>
          <p:cNvPr id="3" name="Picture 2" descr="Communication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760720" cy="2304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2743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数据来源：call_log/call_log_*.csv；sms/sms_*.csv</a:t>
            </a:r>
          </a:p>
          <a:p>
            <a:pPr>
              <a:defRPr sz="1600"/>
            </a:pPr>
            <a:r>
              <a:t>限制说明：号码/地址单向哈希，无法识别对方学生 → 不构边</a:t>
            </a:r>
          </a:p>
          <a:p>
            <a:pPr>
              <a:defRPr sz="1600"/>
            </a:pPr>
            <a:r>
              <a:t>特征列：calls_total、sms_total、comm_freq_day/week、unique_contacts、entropy 等</a:t>
            </a:r>
          </a:p>
          <a:p>
            <a:pPr>
              <a:defRPr sz="1600"/>
            </a:pPr>
            <a:r>
              <a:t>左图：unique_contacts 直方图 + 每周频次散点（点径随通话+短信量）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多层网络（三层：Physical + Behavior + Education）</a:t>
            </a:r>
          </a:p>
        </p:txBody>
      </p:sp>
      <p:pic>
        <p:nvPicPr>
          <p:cNvPr id="3" name="Picture 2" descr="Multiplex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7607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2743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静态规则：全期存在即为边；各层权重归一化</a:t>
            </a:r>
          </a:p>
          <a:p>
            <a:pPr>
              <a:defRPr sz="1600"/>
            </a:pPr>
            <a:r>
              <a:t>层间耦合：omega·I（同一学生跨层相连）</a:t>
            </a:r>
          </a:p>
          <a:p>
            <a:pPr>
              <a:defRPr sz="1600"/>
            </a:pPr>
            <a:r>
              <a:t>导出产物：supra_adjacency.csv；multi_layer_edges.csv</a:t>
            </a:r>
          </a:p>
          <a:p>
            <a:pPr>
              <a:defRPr sz="1600"/>
            </a:pPr>
            <a:r>
              <a:t>可视化：Multiplex3D.png（三层示意图）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多层网络可行性与关键节点识别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多层构建链路完整：静态层、编号统一、supra矩阵与边导出已验证</a:t>
            </a:r>
          </a:p>
          <a:p>
            <a:pPr>
              <a:defRPr sz="1800"/>
            </a:pPr>
            <a:r>
              <a:t>可视化：3D多层示意（Multiplex3D.png），可用于演示</a:t>
            </a:r>
          </a:p>
          <a:p>
            <a:pPr>
              <a:defRPr sz="1800"/>
            </a:pPr>
            <a:r>
              <a:t>关键节点识别可行：层感知中心性、跨层参与系数、多层k-core等</a:t>
            </a:r>
          </a:p>
          <a:p>
            <a:pPr>
              <a:defRPr sz="1800"/>
            </a:pPr>
            <a:r>
              <a:t>建议做参数敏感性分析（层间耦合omega、各层归一化方式）</a:t>
            </a:r>
          </a:p>
          <a:p>
            <a:pPr>
              <a:defRPr sz="1800"/>
            </a:pPr>
            <a:r>
              <a:t>数据质量与节点统一影响跨层一致性，需做缺失与稳健处理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