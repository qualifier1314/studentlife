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7" r:id="rId3"/>
    <p:sldId id="818" r:id="rId5"/>
    <p:sldId id="816" r:id="rId6"/>
    <p:sldId id="817" r:id="rId7"/>
    <p:sldId id="819" r:id="rId8"/>
    <p:sldId id="801" r:id="rId9"/>
    <p:sldId id="296" r:id="rId10"/>
    <p:sldId id="821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基础页面" id="{D2D6D259-C28E-45D0-A426-F5318BB6DEAA}">
          <p14:sldIdLst>
            <p14:sldId id="257"/>
            <p14:sldId id="818"/>
            <p14:sldId id="816"/>
            <p14:sldId id="817"/>
            <p14:sldId id="819"/>
            <p14:sldId id="801"/>
            <p14:sldId id="296"/>
            <p14:sldId id="8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7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942" userDrawn="1">
          <p15:clr>
            <a:srgbClr val="A4A3A4"/>
          </p15:clr>
        </p15:guide>
        <p15:guide id="4" pos="7181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3198" userDrawn="1">
          <p15:clr>
            <a:srgbClr val="A4A3A4"/>
          </p15:clr>
        </p15:guide>
        <p15:guide id="8" orient="horz" pos="40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974"/>
    <a:srgbClr val="232974"/>
    <a:srgbClr val="18215D"/>
    <a:srgbClr val="272727"/>
    <a:srgbClr val="8077D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3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66" y="558"/>
      </p:cViewPr>
      <p:guideLst>
        <p:guide orient="horz" pos="2077"/>
        <p:guide pos="3840"/>
        <p:guide pos="2942"/>
        <p:guide pos="7181"/>
        <p:guide orient="horz" pos="640"/>
        <p:guide orient="horz" pos="3198"/>
        <p:guide orient="horz" pos="40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E4B91-4E85-47AA-BDE2-66536373D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09861-6FC9-4A49-A93B-AF9E71B1BE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09861-6FC9-4A49-A93B-AF9E71B1B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为什么不使用其他教育数据集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education/piazza.csv</a:t>
            </a:r>
            <a:endParaRPr lang="en-US" altLang="zh-CN"/>
          </a:p>
          <a:p>
            <a:r>
              <a:rPr lang="en-US" altLang="zh-CN"/>
              <a:t>  - </a:t>
            </a:r>
            <a:r>
              <a:rPr lang="zh-CN" altLang="en-US"/>
              <a:t>内容是每人整期的聚合指标（</a:t>
            </a:r>
            <a:r>
              <a:rPr lang="en-US" altLang="zh-CN"/>
              <a:t> days online </a:t>
            </a:r>
            <a:r>
              <a:rPr lang="zh-CN" altLang="en-US"/>
              <a:t>、</a:t>
            </a:r>
            <a:r>
              <a:rPr lang="en-US" altLang="zh-CN"/>
              <a:t> views </a:t>
            </a:r>
            <a:r>
              <a:rPr lang="zh-CN" altLang="en-US"/>
              <a:t>、</a:t>
            </a:r>
            <a:r>
              <a:rPr lang="en-US" altLang="zh-CN"/>
              <a:t> contributions </a:t>
            </a:r>
            <a:r>
              <a:rPr lang="zh-CN" altLang="en-US"/>
              <a:t>等），缺少逐帖或逐课程的参与者明细，无法直接定位人与人的共参与关系；用于构边会失去明确的</a:t>
            </a:r>
            <a:r>
              <a:rPr lang="en-US" altLang="zh-CN"/>
              <a:t>“</a:t>
            </a:r>
            <a:r>
              <a:rPr lang="zh-CN" altLang="en-US"/>
              <a:t>共现语义</a:t>
            </a:r>
            <a:r>
              <a:rPr lang="en-US" altLang="zh-CN"/>
              <a:t>”</a:t>
            </a:r>
            <a:r>
              <a:rPr lang="zh-CN" altLang="en-US"/>
              <a:t>。更适合作为节点属性或课程参与度的辅助特征。</a:t>
            </a:r>
            <a:endParaRPr lang="zh-CN" altLang="en-US"/>
          </a:p>
          <a:p>
            <a:r>
              <a:rPr lang="en-US" altLang="zh-CN"/>
              <a:t>- education/grades.csv</a:t>
            </a:r>
            <a:endParaRPr lang="en-US" altLang="zh-CN"/>
          </a:p>
          <a:p>
            <a:r>
              <a:rPr lang="en-US" altLang="zh-CN"/>
              <a:t>  - </a:t>
            </a:r>
            <a:r>
              <a:rPr lang="zh-CN" altLang="en-US"/>
              <a:t>成绩是个人静态数值，若用</a:t>
            </a:r>
            <a:r>
              <a:rPr lang="en-US" altLang="zh-CN"/>
              <a:t>“</a:t>
            </a:r>
            <a:r>
              <a:rPr lang="zh-CN" altLang="en-US"/>
              <a:t>成绩相似度</a:t>
            </a:r>
            <a:r>
              <a:rPr lang="en-US" altLang="zh-CN"/>
              <a:t>”</a:t>
            </a:r>
            <a:r>
              <a:rPr lang="zh-CN" altLang="en-US"/>
              <a:t>连边，语义弱且容易受课程难度</a:t>
            </a:r>
            <a:r>
              <a:rPr lang="en-US" altLang="zh-CN"/>
              <a:t>/</a:t>
            </a:r>
            <a:r>
              <a:rPr lang="zh-CN" altLang="en-US"/>
              <a:t>选课差异等混杂影响；也不反映真实交互或协作关系。适合作为节点属性或回归</a:t>
            </a:r>
            <a:r>
              <a:rPr lang="en-US" altLang="zh-CN"/>
              <a:t>/</a:t>
            </a:r>
            <a:r>
              <a:rPr lang="zh-CN" altLang="en-US"/>
              <a:t>控制变量，而非关系边。</a:t>
            </a:r>
            <a:endParaRPr lang="zh-CN" altLang="en-US"/>
          </a:p>
          <a:p>
            <a:r>
              <a:rPr lang="en-US" altLang="zh-CN"/>
              <a:t>- education/deadlines.csv</a:t>
            </a:r>
            <a:endParaRPr lang="en-US" altLang="zh-CN"/>
          </a:p>
          <a:p>
            <a:r>
              <a:rPr lang="en-US" altLang="zh-CN"/>
              <a:t>  - </a:t>
            </a:r>
            <a:r>
              <a:rPr lang="zh-CN" altLang="en-US"/>
              <a:t>是</a:t>
            </a:r>
            <a:r>
              <a:rPr lang="en-US" altLang="zh-CN"/>
              <a:t>“</a:t>
            </a:r>
            <a:r>
              <a:rPr lang="zh-CN" altLang="en-US"/>
              <a:t>宽表形式</a:t>
            </a:r>
            <a:r>
              <a:rPr lang="en-US" altLang="zh-CN"/>
              <a:t>”</a:t>
            </a:r>
            <a:r>
              <a:rPr lang="zh-CN" altLang="en-US"/>
              <a:t>的按日聚合计数（每人每天有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/</a:t>
            </a:r>
            <a:r>
              <a:rPr lang="zh-CN" altLang="en-US"/>
              <a:t>数量的截止事项），缺少课程维度和对方参与者标识；很难定义稳定的学生</a:t>
            </a:r>
            <a:r>
              <a:rPr lang="en-US" altLang="zh-CN"/>
              <a:t>-</a:t>
            </a:r>
            <a:r>
              <a:rPr lang="zh-CN" altLang="en-US"/>
              <a:t>学生关系规则。可用于时间维度的负荷强度特征，但不适合直接构边。</a:t>
            </a:r>
            <a:endParaRPr lang="zh-CN" altLang="en-US"/>
          </a:p>
          <a:p>
            <a:r>
              <a:rPr lang="en-US" altLang="zh-CN"/>
              <a:t>- education/class_info.json</a:t>
            </a:r>
            <a:endParaRPr lang="en-US" altLang="zh-CN"/>
          </a:p>
          <a:p>
            <a:r>
              <a:rPr lang="en-US" altLang="zh-CN"/>
              <a:t>  - </a:t>
            </a:r>
            <a:r>
              <a:rPr lang="zh-CN" altLang="en-US"/>
              <a:t>用途是课程元数据（编号、标签等），不包含学生参与明细，不能单独构边。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09861-6FC9-4A49-A93B-AF9E71B1B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905574"/>
            <a:ext cx="12192000" cy="3696915"/>
          </a:xfrm>
          <a:prstGeom prst="rect">
            <a:avLst/>
          </a:prstGeom>
          <a:solidFill>
            <a:srgbClr val="1D29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11"/>
          </p:nvPr>
        </p:nvSpPr>
        <p:spPr>
          <a:xfrm>
            <a:off x="6659536" y="1905000"/>
            <a:ext cx="5546978" cy="3696912"/>
          </a:xfrm>
          <a:custGeom>
            <a:avLst/>
            <a:gdLst>
              <a:gd name="connsiteX0" fmla="*/ 1608076 w 5532465"/>
              <a:gd name="connsiteY0" fmla="*/ 0 h 3697288"/>
              <a:gd name="connsiteX1" fmla="*/ 5532465 w 5532465"/>
              <a:gd name="connsiteY1" fmla="*/ 0 h 3697288"/>
              <a:gd name="connsiteX2" fmla="*/ 5532465 w 5532465"/>
              <a:gd name="connsiteY2" fmla="*/ 3697288 h 3697288"/>
              <a:gd name="connsiteX3" fmla="*/ 0 w 5532465"/>
              <a:gd name="connsiteY3" fmla="*/ 3697288 h 3697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2465" h="3697288">
                <a:moveTo>
                  <a:pt x="1608076" y="0"/>
                </a:moveTo>
                <a:lnTo>
                  <a:pt x="5532465" y="0"/>
                </a:lnTo>
                <a:lnTo>
                  <a:pt x="5532465" y="3697288"/>
                </a:lnTo>
                <a:lnTo>
                  <a:pt x="0" y="36972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738" y="2423975"/>
            <a:ext cx="6847664" cy="1880879"/>
          </a:xfrm>
        </p:spPr>
        <p:txBody>
          <a:bodyPr lIns="0" tIns="0"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1014" y="4734601"/>
            <a:ext cx="2357957" cy="354148"/>
          </a:xfr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答辩人：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cxnSp>
        <p:nvCxnSpPr>
          <p:cNvPr id="51" name="直接连接符 50"/>
          <p:cNvCxnSpPr/>
          <p:nvPr userDrawn="1"/>
        </p:nvCxnSpPr>
        <p:spPr>
          <a:xfrm>
            <a:off x="660400" y="4342278"/>
            <a:ext cx="610016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bg1">
                    <a:lumMod val="65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bg1">
                    <a:lumMod val="65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3498557" y="4734601"/>
            <a:ext cx="3700529" cy="354148"/>
          </a:xfr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14" y="92575"/>
            <a:ext cx="4254005" cy="17942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3371850"/>
            <a:ext cx="121920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59738" y="3975100"/>
            <a:ext cx="10859162" cy="933004"/>
          </a:xfrm>
        </p:spPr>
        <p:txBody>
          <a:bodyPr lIns="0" tIns="0" anchor="b"/>
          <a:lstStyle>
            <a:lvl1pPr algn="ctr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2" hasCustomPrompt="1"/>
          </p:nvPr>
        </p:nvSpPr>
        <p:spPr>
          <a:xfrm>
            <a:off x="3114675" y="4960491"/>
            <a:ext cx="5962650" cy="347663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请输入英文副标题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060691" y="5850432"/>
            <a:ext cx="2357957" cy="354148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答辩人：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5898234" y="5850432"/>
            <a:ext cx="3700529" cy="354148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9051"/>
            <a:ext cx="4076700" cy="6896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49247" y="1667893"/>
            <a:ext cx="217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10000"/>
            <a:lum bright="70000" contrast="-70000"/>
          </a:blip>
          <a:stretch>
            <a:fillRect/>
          </a:stretch>
        </p:blipFill>
        <p:spPr>
          <a:xfrm>
            <a:off x="727169" y="0"/>
            <a:ext cx="6856688" cy="6877093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1622092" y="2409437"/>
            <a:ext cx="832516" cy="747374"/>
            <a:chOff x="1333501" y="5545626"/>
            <a:chExt cx="1409699" cy="7473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333501" y="5545626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333501" y="5919313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333501" y="6293000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930197" y="805954"/>
            <a:ext cx="2216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</a:rPr>
              <a:t>目录</a:t>
            </a:r>
            <a:endParaRPr lang="en-US" altLang="zh-CN" sz="48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076705" y="1450776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01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71" name="文本框 70"/>
          <p:cNvSpPr txBox="1"/>
          <p:nvPr userDrawn="1"/>
        </p:nvSpPr>
        <p:spPr>
          <a:xfrm>
            <a:off x="0" y="5314097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含弘光大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2" name="文本框 71"/>
          <p:cNvSpPr txBox="1"/>
          <p:nvPr userDrawn="1"/>
        </p:nvSpPr>
        <p:spPr>
          <a:xfrm>
            <a:off x="0" y="5997981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继往开来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4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7270707" y="2145520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86" name="文本占位符 85"/>
          <p:cNvSpPr>
            <a:spLocks noGrp="1"/>
          </p:cNvSpPr>
          <p:nvPr>
            <p:ph type="body" sz="quarter" idx="13" hasCustomPrompt="1"/>
          </p:nvPr>
        </p:nvSpPr>
        <p:spPr>
          <a:xfrm>
            <a:off x="7261225" y="1636713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89" name="文本框 88"/>
          <p:cNvSpPr txBox="1"/>
          <p:nvPr userDrawn="1"/>
        </p:nvSpPr>
        <p:spPr>
          <a:xfrm>
            <a:off x="6076705" y="3047537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02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90" name="文本占位符 52"/>
          <p:cNvSpPr>
            <a:spLocks noGrp="1"/>
          </p:cNvSpPr>
          <p:nvPr>
            <p:ph type="body" sz="quarter" idx="14" hasCustomPrompt="1"/>
          </p:nvPr>
        </p:nvSpPr>
        <p:spPr>
          <a:xfrm>
            <a:off x="7270707" y="3742281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91" name="文本占位符 85"/>
          <p:cNvSpPr>
            <a:spLocks noGrp="1"/>
          </p:cNvSpPr>
          <p:nvPr>
            <p:ph type="body" sz="quarter" idx="15" hasCustomPrompt="1"/>
          </p:nvPr>
        </p:nvSpPr>
        <p:spPr>
          <a:xfrm>
            <a:off x="7261225" y="3233474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92" name="文本框 91"/>
          <p:cNvSpPr txBox="1"/>
          <p:nvPr userDrawn="1"/>
        </p:nvSpPr>
        <p:spPr>
          <a:xfrm>
            <a:off x="6076705" y="4526543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03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93" name="文本占位符 52"/>
          <p:cNvSpPr>
            <a:spLocks noGrp="1"/>
          </p:cNvSpPr>
          <p:nvPr>
            <p:ph type="body" sz="quarter" idx="16" hasCustomPrompt="1"/>
          </p:nvPr>
        </p:nvSpPr>
        <p:spPr>
          <a:xfrm>
            <a:off x="7270707" y="5221287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94" name="文本占位符 85"/>
          <p:cNvSpPr>
            <a:spLocks noGrp="1"/>
          </p:cNvSpPr>
          <p:nvPr>
            <p:ph type="body" sz="quarter" idx="17" hasCustomPrompt="1"/>
          </p:nvPr>
        </p:nvSpPr>
        <p:spPr>
          <a:xfrm>
            <a:off x="7261225" y="4712480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50" y="149150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9051"/>
            <a:ext cx="4076700" cy="6896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49247" y="1667893"/>
            <a:ext cx="217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10000"/>
            <a:lum bright="70000" contrast="-70000"/>
          </a:blip>
          <a:stretch>
            <a:fillRect/>
          </a:stretch>
        </p:blipFill>
        <p:spPr>
          <a:xfrm>
            <a:off x="727169" y="0"/>
            <a:ext cx="6856688" cy="6877093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1622092" y="2409437"/>
            <a:ext cx="832516" cy="747374"/>
            <a:chOff x="1333501" y="5545626"/>
            <a:chExt cx="1409699" cy="7473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333501" y="5545626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333501" y="5919313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333501" y="6293000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930197" y="805954"/>
            <a:ext cx="2216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</a:rPr>
              <a:t>目录</a:t>
            </a:r>
            <a:endParaRPr lang="en-US" altLang="zh-CN" sz="48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076705" y="1184076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01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71" name="文本框 70"/>
          <p:cNvSpPr txBox="1"/>
          <p:nvPr userDrawn="1"/>
        </p:nvSpPr>
        <p:spPr>
          <a:xfrm>
            <a:off x="0" y="5314097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含弘光大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2" name="文本框 71"/>
          <p:cNvSpPr txBox="1"/>
          <p:nvPr userDrawn="1"/>
        </p:nvSpPr>
        <p:spPr>
          <a:xfrm>
            <a:off x="0" y="5997981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继往开来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4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7270707" y="1878820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86" name="文本占位符 85"/>
          <p:cNvSpPr>
            <a:spLocks noGrp="1"/>
          </p:cNvSpPr>
          <p:nvPr>
            <p:ph type="body" sz="quarter" idx="13" hasCustomPrompt="1"/>
          </p:nvPr>
        </p:nvSpPr>
        <p:spPr>
          <a:xfrm>
            <a:off x="7261225" y="1370013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2" name="文本框 61"/>
          <p:cNvSpPr txBox="1"/>
          <p:nvPr userDrawn="1"/>
        </p:nvSpPr>
        <p:spPr>
          <a:xfrm>
            <a:off x="6076705" y="2537776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02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63" name="文本占位符 52"/>
          <p:cNvSpPr>
            <a:spLocks noGrp="1"/>
          </p:cNvSpPr>
          <p:nvPr>
            <p:ph type="body" sz="quarter" idx="14" hasCustomPrompt="1"/>
          </p:nvPr>
        </p:nvSpPr>
        <p:spPr>
          <a:xfrm>
            <a:off x="7270707" y="3231002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64" name="文本占位符 85"/>
          <p:cNvSpPr>
            <a:spLocks noGrp="1"/>
          </p:cNvSpPr>
          <p:nvPr>
            <p:ph type="body" sz="quarter" idx="15" hasCustomPrompt="1"/>
          </p:nvPr>
        </p:nvSpPr>
        <p:spPr>
          <a:xfrm>
            <a:off x="7261225" y="2722195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6076705" y="3891476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03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75" name="文本占位符 52"/>
          <p:cNvSpPr>
            <a:spLocks noGrp="1"/>
          </p:cNvSpPr>
          <p:nvPr>
            <p:ph type="body" sz="quarter" idx="16" hasCustomPrompt="1"/>
          </p:nvPr>
        </p:nvSpPr>
        <p:spPr>
          <a:xfrm>
            <a:off x="7270707" y="4614282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76" name="文本占位符 85"/>
          <p:cNvSpPr>
            <a:spLocks noGrp="1"/>
          </p:cNvSpPr>
          <p:nvPr>
            <p:ph type="body" sz="quarter" idx="17" hasCustomPrompt="1"/>
          </p:nvPr>
        </p:nvSpPr>
        <p:spPr>
          <a:xfrm>
            <a:off x="7261225" y="4105475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77" name="文本框 76"/>
          <p:cNvSpPr txBox="1"/>
          <p:nvPr userDrawn="1"/>
        </p:nvSpPr>
        <p:spPr>
          <a:xfrm>
            <a:off x="6076705" y="5245176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04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78" name="文本占位符 52"/>
          <p:cNvSpPr>
            <a:spLocks noGrp="1"/>
          </p:cNvSpPr>
          <p:nvPr>
            <p:ph type="body" sz="quarter" idx="18" hasCustomPrompt="1"/>
          </p:nvPr>
        </p:nvSpPr>
        <p:spPr>
          <a:xfrm>
            <a:off x="7270707" y="5939920"/>
            <a:ext cx="3524087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6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79" name="文本占位符 85"/>
          <p:cNvSpPr>
            <a:spLocks noGrp="1"/>
          </p:cNvSpPr>
          <p:nvPr>
            <p:ph type="body" sz="quarter" idx="19" hasCustomPrompt="1"/>
          </p:nvPr>
        </p:nvSpPr>
        <p:spPr>
          <a:xfrm>
            <a:off x="7261225" y="5431113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65" name="图片 6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50" y="149150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9051"/>
            <a:ext cx="4076700" cy="68961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49247" y="1667893"/>
            <a:ext cx="217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10000"/>
            <a:lum bright="70000" contrast="-70000"/>
          </a:blip>
          <a:stretch>
            <a:fillRect/>
          </a:stretch>
        </p:blipFill>
        <p:spPr>
          <a:xfrm>
            <a:off x="727169" y="0"/>
            <a:ext cx="6856688" cy="6877093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1622092" y="2409437"/>
            <a:ext cx="832516" cy="747374"/>
            <a:chOff x="1333501" y="5545626"/>
            <a:chExt cx="1409699" cy="7473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333501" y="5545626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333501" y="5919313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333501" y="6293000"/>
              <a:ext cx="1409699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930197" y="805954"/>
            <a:ext cx="2216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</a:rPr>
              <a:t>目录</a:t>
            </a:r>
            <a:endParaRPr lang="en-US" altLang="zh-CN" sz="48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854041" y="1303230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01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71" name="文本框 70"/>
          <p:cNvSpPr txBox="1"/>
          <p:nvPr userDrawn="1"/>
        </p:nvSpPr>
        <p:spPr>
          <a:xfrm>
            <a:off x="0" y="5314097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含弘光大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2" name="文本框 71"/>
          <p:cNvSpPr txBox="1"/>
          <p:nvPr userDrawn="1"/>
        </p:nvSpPr>
        <p:spPr>
          <a:xfrm>
            <a:off x="0" y="5997981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>
                    <a:alpha val="33000"/>
                  </a:schemeClr>
                </a:solidFill>
              </a:rPr>
              <a:t>继往开来</a:t>
            </a:r>
            <a:endParaRPr lang="zh-CN" altLang="en-US" sz="36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74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6048043" y="1997974"/>
            <a:ext cx="3109449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4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86" name="文本占位符 85"/>
          <p:cNvSpPr>
            <a:spLocks noGrp="1"/>
          </p:cNvSpPr>
          <p:nvPr>
            <p:ph type="body" sz="quarter" idx="13" hasCustomPrompt="1"/>
          </p:nvPr>
        </p:nvSpPr>
        <p:spPr>
          <a:xfrm>
            <a:off x="6038561" y="1546317"/>
            <a:ext cx="2203049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5" name="文本框 64"/>
          <p:cNvSpPr txBox="1"/>
          <p:nvPr userDrawn="1"/>
        </p:nvSpPr>
        <p:spPr>
          <a:xfrm>
            <a:off x="4854041" y="3261932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03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66" name="文本占位符 52"/>
          <p:cNvSpPr>
            <a:spLocks noGrp="1"/>
          </p:cNvSpPr>
          <p:nvPr>
            <p:ph type="body" sz="quarter" idx="14" hasCustomPrompt="1"/>
          </p:nvPr>
        </p:nvSpPr>
        <p:spPr>
          <a:xfrm>
            <a:off x="6048043" y="3956676"/>
            <a:ext cx="3109449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4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67" name="文本占位符 85"/>
          <p:cNvSpPr>
            <a:spLocks noGrp="1"/>
          </p:cNvSpPr>
          <p:nvPr>
            <p:ph type="body" sz="quarter" idx="15" hasCustomPrompt="1"/>
          </p:nvPr>
        </p:nvSpPr>
        <p:spPr>
          <a:xfrm>
            <a:off x="6038561" y="3505019"/>
            <a:ext cx="2203049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8" name="文本框 67"/>
          <p:cNvSpPr txBox="1"/>
          <p:nvPr userDrawn="1"/>
        </p:nvSpPr>
        <p:spPr>
          <a:xfrm>
            <a:off x="4854041" y="5220634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05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69" name="文本占位符 52"/>
          <p:cNvSpPr>
            <a:spLocks noGrp="1"/>
          </p:cNvSpPr>
          <p:nvPr>
            <p:ph type="body" sz="quarter" idx="16" hasCustomPrompt="1"/>
          </p:nvPr>
        </p:nvSpPr>
        <p:spPr>
          <a:xfrm>
            <a:off x="6048043" y="5915378"/>
            <a:ext cx="3109449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4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70" name="文本占位符 85"/>
          <p:cNvSpPr>
            <a:spLocks noGrp="1"/>
          </p:cNvSpPr>
          <p:nvPr>
            <p:ph type="body" sz="quarter" idx="17" hasCustomPrompt="1"/>
          </p:nvPr>
        </p:nvSpPr>
        <p:spPr>
          <a:xfrm>
            <a:off x="6038561" y="5454196"/>
            <a:ext cx="2203049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80" name="文本框 79"/>
          <p:cNvSpPr txBox="1"/>
          <p:nvPr userDrawn="1"/>
        </p:nvSpPr>
        <p:spPr>
          <a:xfrm>
            <a:off x="7047608" y="2282581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02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81" name="文本占位符 52"/>
          <p:cNvSpPr>
            <a:spLocks noGrp="1"/>
          </p:cNvSpPr>
          <p:nvPr>
            <p:ph type="body" sz="quarter" idx="18" hasCustomPrompt="1"/>
          </p:nvPr>
        </p:nvSpPr>
        <p:spPr>
          <a:xfrm>
            <a:off x="8241610" y="2970228"/>
            <a:ext cx="3109449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4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82" name="文本占位符 85"/>
          <p:cNvSpPr>
            <a:spLocks noGrp="1"/>
          </p:cNvSpPr>
          <p:nvPr>
            <p:ph type="body" sz="quarter" idx="19" hasCustomPrompt="1"/>
          </p:nvPr>
        </p:nvSpPr>
        <p:spPr>
          <a:xfrm>
            <a:off x="8232128" y="2509046"/>
            <a:ext cx="2203049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83" name="文本框 82"/>
          <p:cNvSpPr txBox="1"/>
          <p:nvPr userDrawn="1"/>
        </p:nvSpPr>
        <p:spPr>
          <a:xfrm>
            <a:off x="7047608" y="4250808"/>
            <a:ext cx="1332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0" dirty="0">
                <a:solidFill>
                  <a:srgbClr val="CECECE"/>
                </a:solidFill>
                <a:latin typeface="+mn-lt"/>
                <a:ea typeface="+mj-ea"/>
              </a:rPr>
              <a:t>04</a:t>
            </a:r>
            <a:endParaRPr lang="zh-CN" altLang="en-US" sz="72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84" name="文本占位符 52"/>
          <p:cNvSpPr>
            <a:spLocks noGrp="1"/>
          </p:cNvSpPr>
          <p:nvPr>
            <p:ph type="body" sz="quarter" idx="20" hasCustomPrompt="1"/>
          </p:nvPr>
        </p:nvSpPr>
        <p:spPr>
          <a:xfrm>
            <a:off x="8241610" y="4949146"/>
            <a:ext cx="3109449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4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85" name="文本占位符 85"/>
          <p:cNvSpPr>
            <a:spLocks noGrp="1"/>
          </p:cNvSpPr>
          <p:nvPr>
            <p:ph type="body" sz="quarter" idx="21" hasCustomPrompt="1"/>
          </p:nvPr>
        </p:nvSpPr>
        <p:spPr>
          <a:xfrm>
            <a:off x="8232128" y="4497489"/>
            <a:ext cx="2203049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pic>
        <p:nvPicPr>
          <p:cNvPr id="75" name="图片 7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50" y="149150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3371850"/>
            <a:ext cx="121920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431800" y="395605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01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11" name="文本占位符 52"/>
          <p:cNvSpPr>
            <a:spLocks noGrp="1"/>
          </p:cNvSpPr>
          <p:nvPr>
            <p:ph type="body" sz="quarter" idx="11" hasCustomPrompt="1"/>
          </p:nvPr>
        </p:nvSpPr>
        <p:spPr>
          <a:xfrm>
            <a:off x="1266825" y="449310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14" name="文本占位符 85"/>
          <p:cNvSpPr>
            <a:spLocks noGrp="1"/>
          </p:cNvSpPr>
          <p:nvPr>
            <p:ph type="body" sz="quarter" idx="13" hasCustomPrompt="1"/>
          </p:nvPr>
        </p:nvSpPr>
        <p:spPr>
          <a:xfrm>
            <a:off x="1266825" y="414198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366483" y="395605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03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17" name="文本占位符 52"/>
          <p:cNvSpPr>
            <a:spLocks noGrp="1"/>
          </p:cNvSpPr>
          <p:nvPr>
            <p:ph type="body" sz="quarter" idx="14" hasCustomPrompt="1"/>
          </p:nvPr>
        </p:nvSpPr>
        <p:spPr>
          <a:xfrm>
            <a:off x="5201508" y="449310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19" name="文本占位符 85"/>
          <p:cNvSpPr>
            <a:spLocks noGrp="1"/>
          </p:cNvSpPr>
          <p:nvPr>
            <p:ph type="body" sz="quarter" idx="15" hasCustomPrompt="1"/>
          </p:nvPr>
        </p:nvSpPr>
        <p:spPr>
          <a:xfrm>
            <a:off x="5201508" y="414198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301166" y="395605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05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21" name="文本占位符 52"/>
          <p:cNvSpPr>
            <a:spLocks noGrp="1"/>
          </p:cNvSpPr>
          <p:nvPr>
            <p:ph type="body" sz="quarter" idx="16" hasCustomPrompt="1"/>
          </p:nvPr>
        </p:nvSpPr>
        <p:spPr>
          <a:xfrm>
            <a:off x="9136191" y="449310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22" name="文本占位符 85"/>
          <p:cNvSpPr>
            <a:spLocks noGrp="1"/>
          </p:cNvSpPr>
          <p:nvPr>
            <p:ph type="body" sz="quarter" idx="17" hasCustomPrompt="1"/>
          </p:nvPr>
        </p:nvSpPr>
        <p:spPr>
          <a:xfrm>
            <a:off x="9136191" y="414198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431800" y="527050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02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24" name="文本占位符 52"/>
          <p:cNvSpPr>
            <a:spLocks noGrp="1"/>
          </p:cNvSpPr>
          <p:nvPr>
            <p:ph type="body" sz="quarter" idx="18" hasCustomPrompt="1"/>
          </p:nvPr>
        </p:nvSpPr>
        <p:spPr>
          <a:xfrm>
            <a:off x="1266825" y="580755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25" name="文本占位符 85"/>
          <p:cNvSpPr>
            <a:spLocks noGrp="1"/>
          </p:cNvSpPr>
          <p:nvPr>
            <p:ph type="body" sz="quarter" idx="19" hasCustomPrompt="1"/>
          </p:nvPr>
        </p:nvSpPr>
        <p:spPr>
          <a:xfrm>
            <a:off x="1266825" y="545643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4366483" y="527050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04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27" name="文本占位符 52"/>
          <p:cNvSpPr>
            <a:spLocks noGrp="1"/>
          </p:cNvSpPr>
          <p:nvPr>
            <p:ph type="body" sz="quarter" idx="20" hasCustomPrompt="1"/>
          </p:nvPr>
        </p:nvSpPr>
        <p:spPr>
          <a:xfrm>
            <a:off x="5201508" y="580755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28" name="文本占位符 85"/>
          <p:cNvSpPr>
            <a:spLocks noGrp="1"/>
          </p:cNvSpPr>
          <p:nvPr>
            <p:ph type="body" sz="quarter" idx="21" hasCustomPrompt="1"/>
          </p:nvPr>
        </p:nvSpPr>
        <p:spPr>
          <a:xfrm>
            <a:off x="5201508" y="545643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29" name="文本框 28"/>
          <p:cNvSpPr txBox="1"/>
          <p:nvPr userDrawn="1"/>
        </p:nvSpPr>
        <p:spPr>
          <a:xfrm>
            <a:off x="8301166" y="5270500"/>
            <a:ext cx="1332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0" dirty="0">
                <a:solidFill>
                  <a:srgbClr val="CECECE"/>
                </a:solidFill>
                <a:latin typeface="+mn-lt"/>
                <a:ea typeface="+mj-ea"/>
              </a:rPr>
              <a:t>06</a:t>
            </a:r>
            <a:endParaRPr lang="zh-CN" altLang="en-US" sz="5400" b="0" dirty="0">
              <a:solidFill>
                <a:srgbClr val="CECECE"/>
              </a:solidFill>
              <a:latin typeface="+mn-lt"/>
              <a:ea typeface="+mj-ea"/>
            </a:endParaRPr>
          </a:p>
        </p:txBody>
      </p:sp>
      <p:sp>
        <p:nvSpPr>
          <p:cNvPr id="30" name="文本占位符 52"/>
          <p:cNvSpPr>
            <a:spLocks noGrp="1"/>
          </p:cNvSpPr>
          <p:nvPr>
            <p:ph type="body" sz="quarter" idx="22" hasCustomPrompt="1"/>
          </p:nvPr>
        </p:nvSpPr>
        <p:spPr>
          <a:xfrm>
            <a:off x="9136191" y="5807552"/>
            <a:ext cx="2708275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110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31" name="文本占位符 85"/>
          <p:cNvSpPr>
            <a:spLocks noGrp="1"/>
          </p:cNvSpPr>
          <p:nvPr>
            <p:ph type="body" sz="quarter" idx="23" hasCustomPrompt="1"/>
          </p:nvPr>
        </p:nvSpPr>
        <p:spPr>
          <a:xfrm>
            <a:off x="9136191" y="5456437"/>
            <a:ext cx="2264633" cy="44914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01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02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03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04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05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486951" y="3135408"/>
            <a:ext cx="4054117" cy="1325563"/>
          </a:xfrm>
        </p:spPr>
        <p:txBody>
          <a:bodyPr/>
          <a:lstStyle>
            <a:lvl1pPr>
              <a:lnSpc>
                <a:spcPct val="100000"/>
              </a:lnSpc>
              <a:defRPr lang="zh-CN" altLang="en-US" sz="7200" b="1" kern="1200" dirty="0" smtClean="0">
                <a:solidFill>
                  <a:srgbClr val="1D2974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67731" y="1462032"/>
            <a:ext cx="255390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b="1" dirty="0">
                <a:gradFill>
                  <a:gsLst>
                    <a:gs pos="0">
                      <a:srgbClr val="878787"/>
                    </a:gs>
                    <a:gs pos="84000">
                      <a:srgbClr val="BBBBBB">
                        <a:alpha val="0"/>
                      </a:srgbClr>
                    </a:gs>
                    <a:gs pos="100000">
                      <a:srgbClr val="CECECE">
                        <a:alpha val="30000"/>
                      </a:srgbClr>
                    </a:gs>
                  </a:gsLst>
                  <a:lin ang="5400000" scaled="1"/>
                </a:gradFill>
              </a:rPr>
              <a:t>06</a:t>
            </a:r>
            <a:endParaRPr lang="zh-CN" altLang="en-US" sz="16600" b="1" dirty="0">
              <a:gradFill>
                <a:gsLst>
                  <a:gs pos="0">
                    <a:srgbClr val="878787"/>
                  </a:gs>
                  <a:gs pos="84000">
                    <a:srgbClr val="BBBBBB">
                      <a:alpha val="0"/>
                    </a:srgbClr>
                  </a:gs>
                  <a:gs pos="100000">
                    <a:srgbClr val="CECECE">
                      <a:alpha val="30000"/>
                    </a:srgbClr>
                  </a:gs>
                </a:gsLst>
                <a:lin ang="5400000" scaled="1"/>
              </a:gradFill>
            </a:endParaRPr>
          </a:p>
        </p:txBody>
      </p: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2">
            <a:alphaModFix amt="50000"/>
            <a:lum bright="70000" contrast="-70000"/>
          </a:blip>
          <a:stretch>
            <a:fillRect/>
          </a:stretch>
        </p:blipFill>
        <p:spPr>
          <a:xfrm>
            <a:off x="6612597" y="-389817"/>
            <a:ext cx="7741999" cy="7765039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484881" y="4483270"/>
            <a:ext cx="4662764" cy="386278"/>
          </a:xfrm>
        </p:spPr>
        <p:txBody>
          <a:bodyPr>
            <a:noAutofit/>
          </a:bodyPr>
          <a:lstStyle>
            <a:lvl1pPr marL="0" indent="0" algn="di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PLEASE ENTER ENGLISH TITLE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46" y="310415"/>
            <a:ext cx="3101563" cy="1308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7" y="-42297"/>
            <a:ext cx="2918494" cy="1230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 userDrawn="1"/>
        </p:nvSpPr>
        <p:spPr>
          <a:xfrm>
            <a:off x="0" y="6421120"/>
            <a:ext cx="12192000" cy="4368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0450" y="323240"/>
            <a:ext cx="7890690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7189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bg1"/>
                </a:solidFill>
              </a:rPr>
              <a:t>含弘光大  继往开来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7189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bg1"/>
                </a:solidFill>
              </a:rPr>
              <a:t>www.swu.edu.cn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4" name="等腰三角形 53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7" y="-42297"/>
            <a:ext cx="2990834" cy="12614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>
            <a:off x="6084372" y="0"/>
            <a:ext cx="6006934" cy="6858002"/>
          </a:xfrm>
          <a:prstGeom prst="parallelogram">
            <a:avLst>
              <a:gd name="adj" fmla="val 4263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1"/>
          </p:nvPr>
        </p:nvSpPr>
        <p:spPr>
          <a:xfrm>
            <a:off x="6503268" y="0"/>
            <a:ext cx="6439734" cy="6857999"/>
          </a:xfrm>
          <a:custGeom>
            <a:avLst/>
            <a:gdLst>
              <a:gd name="connsiteX0" fmla="*/ 2588645 w 6850062"/>
              <a:gd name="connsiteY0" fmla="*/ 0 h 6858000"/>
              <a:gd name="connsiteX1" fmla="*/ 6850062 w 6850062"/>
              <a:gd name="connsiteY1" fmla="*/ 0 h 6858000"/>
              <a:gd name="connsiteX2" fmla="*/ 6850062 w 6850062"/>
              <a:gd name="connsiteY2" fmla="*/ 6858000 h 6858000"/>
              <a:gd name="connsiteX3" fmla="*/ 0 w 68500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0062" h="6858000">
                <a:moveTo>
                  <a:pt x="2588645" y="0"/>
                </a:moveTo>
                <a:lnTo>
                  <a:pt x="6850062" y="0"/>
                </a:lnTo>
                <a:lnTo>
                  <a:pt x="685006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738" y="2081075"/>
            <a:ext cx="6847664" cy="1880879"/>
          </a:xfrm>
        </p:spPr>
        <p:txBody>
          <a:bodyPr lIns="0" tIns="0" anchor="b"/>
          <a:lstStyle>
            <a:lvl1pPr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1014" y="4734601"/>
            <a:ext cx="2357957" cy="354148"/>
          </a:xfr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答辩人：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cxnSp>
        <p:nvCxnSpPr>
          <p:cNvPr id="51" name="直接连接符 50"/>
          <p:cNvCxnSpPr/>
          <p:nvPr userDrawn="1"/>
        </p:nvCxnSpPr>
        <p:spPr>
          <a:xfrm>
            <a:off x="660400" y="4342278"/>
            <a:ext cx="610016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 userDrawn="1"/>
        </p:nvSpPr>
        <p:spPr>
          <a:xfrm>
            <a:off x="660400" y="6279802"/>
            <a:ext cx="5976576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pc="300" dirty="0">
                <a:solidFill>
                  <a:schemeClr val="bg1">
                    <a:lumMod val="65000"/>
                  </a:schemeClr>
                </a:solidFill>
              </a:rPr>
              <a:t>含弘光大  继往开来 </a:t>
            </a:r>
            <a:r>
              <a:rPr lang="en-US" altLang="zh-CN" spc="300" dirty="0">
                <a:solidFill>
                  <a:schemeClr val="bg1">
                    <a:lumMod val="65000"/>
                  </a:schemeClr>
                </a:solidFill>
              </a:rPr>
              <a:t>| www.swu.edu.cn</a:t>
            </a:r>
            <a:endParaRPr lang="zh-CN" altLang="en-US" spc="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3498557" y="4734601"/>
            <a:ext cx="3700529" cy="354148"/>
          </a:xfr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sp>
        <p:nvSpPr>
          <p:cNvPr id="53" name="文本框 52"/>
          <p:cNvSpPr txBox="1"/>
          <p:nvPr userDrawn="1"/>
        </p:nvSpPr>
        <p:spPr>
          <a:xfrm>
            <a:off x="7462625" y="1223403"/>
            <a:ext cx="4315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 dirty="0">
                <a:solidFill>
                  <a:schemeClr val="bg1">
                    <a:alpha val="33000"/>
                  </a:schemeClr>
                </a:solidFill>
              </a:rPr>
              <a:t>含弘光大</a:t>
            </a:r>
            <a:endParaRPr lang="zh-CN" altLang="en-US" sz="60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7233621" y="2283372"/>
            <a:ext cx="4315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 dirty="0">
                <a:solidFill>
                  <a:schemeClr val="bg1">
                    <a:alpha val="33000"/>
                  </a:schemeClr>
                </a:solidFill>
              </a:rPr>
              <a:t>继往开来</a:t>
            </a:r>
            <a:endParaRPr lang="zh-CN" altLang="en-US" sz="6000" b="1" dirty="0">
              <a:solidFill>
                <a:schemeClr val="bg1">
                  <a:alpha val="33000"/>
                </a:schemeClr>
              </a:solidFill>
            </a:endParaRPr>
          </a:p>
        </p:txBody>
      </p:sp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2" y="177347"/>
            <a:ext cx="3321771" cy="14010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0" y="3371850"/>
            <a:ext cx="12192000" cy="20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59738" y="4394822"/>
            <a:ext cx="10859162" cy="933004"/>
          </a:xfrm>
        </p:spPr>
        <p:txBody>
          <a:bodyPr lIns="0" tIns="0" anchor="b"/>
          <a:lstStyle>
            <a:lvl1pPr algn="ctr">
              <a:lnSpc>
                <a:spcPct val="100000"/>
              </a:lnSpc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060691" y="5850432"/>
            <a:ext cx="2357957" cy="354148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答辩人：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5898234" y="5850432"/>
            <a:ext cx="3700529" cy="354148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XXXX 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3822700"/>
            <a:ext cx="12192000" cy="25574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7696763" y="1794505"/>
            <a:ext cx="3822137" cy="40211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297663" y="1633538"/>
            <a:ext cx="4068005" cy="40179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6" y="25545"/>
            <a:ext cx="2689894" cy="1134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1019546"/>
            <a:ext cx="12192000" cy="25574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版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2413001" y="1979613"/>
            <a:ext cx="2154238" cy="21526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2" name="图片占位符 3"/>
          <p:cNvSpPr>
            <a:spLocks noGrp="1"/>
          </p:cNvSpPr>
          <p:nvPr>
            <p:ph type="pic" sz="quarter" idx="11"/>
          </p:nvPr>
        </p:nvSpPr>
        <p:spPr>
          <a:xfrm>
            <a:off x="4734468" y="1436861"/>
            <a:ext cx="2154238" cy="21526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3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053026" y="1731992"/>
            <a:ext cx="2154238" cy="21526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9380675" y="2499141"/>
            <a:ext cx="2154238" cy="21526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版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 userDrawn="1"/>
        </p:nvSpPr>
        <p:spPr>
          <a:xfrm>
            <a:off x="1365536" y="1468907"/>
            <a:ext cx="4100904" cy="4314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962025" y="1296988"/>
            <a:ext cx="4365625" cy="43148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展示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135400" y="2151866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3998284" y="2151865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2" name="矩形 51"/>
          <p:cNvSpPr/>
          <p:nvPr userDrawn="1"/>
        </p:nvSpPr>
        <p:spPr>
          <a:xfrm>
            <a:off x="0" y="6421120"/>
            <a:ext cx="12192000" cy="4368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0450" y="323240"/>
            <a:ext cx="7890690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7189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bg1"/>
                </a:solidFill>
              </a:rPr>
              <a:t>含弘光大  继往开来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7189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bg1"/>
                </a:solidFill>
              </a:rPr>
              <a:t>www.swu.edu.cn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4" name="等腰三角形 53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图片占位符 3"/>
          <p:cNvSpPr>
            <a:spLocks noGrp="1"/>
          </p:cNvSpPr>
          <p:nvPr>
            <p:ph type="pic" sz="quarter" idx="12"/>
          </p:nvPr>
        </p:nvSpPr>
        <p:spPr>
          <a:xfrm>
            <a:off x="6861168" y="2151865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2" name="图片占位符 3"/>
          <p:cNvSpPr>
            <a:spLocks noGrp="1"/>
          </p:cNvSpPr>
          <p:nvPr>
            <p:ph type="pic" sz="quarter" idx="13"/>
          </p:nvPr>
        </p:nvSpPr>
        <p:spPr>
          <a:xfrm>
            <a:off x="9724052" y="2151865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3" name="图片占位符 3"/>
          <p:cNvSpPr>
            <a:spLocks noGrp="1"/>
          </p:cNvSpPr>
          <p:nvPr>
            <p:ph type="pic" sz="quarter" idx="14"/>
          </p:nvPr>
        </p:nvSpPr>
        <p:spPr>
          <a:xfrm>
            <a:off x="1135400" y="4086132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4" name="图片占位符 3"/>
          <p:cNvSpPr>
            <a:spLocks noGrp="1"/>
          </p:cNvSpPr>
          <p:nvPr>
            <p:ph type="pic" sz="quarter" idx="15"/>
          </p:nvPr>
        </p:nvSpPr>
        <p:spPr>
          <a:xfrm>
            <a:off x="3998284" y="4086131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5" name="图片占位符 3"/>
          <p:cNvSpPr>
            <a:spLocks noGrp="1"/>
          </p:cNvSpPr>
          <p:nvPr>
            <p:ph type="pic" sz="quarter" idx="16"/>
          </p:nvPr>
        </p:nvSpPr>
        <p:spPr>
          <a:xfrm>
            <a:off x="6861168" y="4086131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6" name="图片占位符 3"/>
          <p:cNvSpPr>
            <a:spLocks noGrp="1"/>
          </p:cNvSpPr>
          <p:nvPr>
            <p:ph type="pic" sz="quarter" idx="17"/>
          </p:nvPr>
        </p:nvSpPr>
        <p:spPr>
          <a:xfrm>
            <a:off x="9724052" y="4086131"/>
            <a:ext cx="1340968" cy="1322405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展示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62702" y="2197506"/>
            <a:ext cx="1826962" cy="1801671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2" name="矩形 51"/>
          <p:cNvSpPr/>
          <p:nvPr userDrawn="1"/>
        </p:nvSpPr>
        <p:spPr>
          <a:xfrm>
            <a:off x="0" y="6421120"/>
            <a:ext cx="12192000" cy="4368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0450" y="323240"/>
            <a:ext cx="7890690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7189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bg1"/>
                </a:solidFill>
              </a:rPr>
              <a:t>含弘光大  继往开来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7189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bg1"/>
                </a:solidFill>
              </a:rPr>
              <a:t>www.swu.edu.cn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4" name="等腰三角形 53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" name="图片占位符 3"/>
          <p:cNvSpPr>
            <a:spLocks noGrp="1"/>
          </p:cNvSpPr>
          <p:nvPr>
            <p:ph type="pic" sz="quarter" idx="11"/>
          </p:nvPr>
        </p:nvSpPr>
        <p:spPr>
          <a:xfrm>
            <a:off x="3732280" y="2197506"/>
            <a:ext cx="1826962" cy="1801671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0" name="图片占位符 3"/>
          <p:cNvSpPr>
            <a:spLocks noGrp="1"/>
          </p:cNvSpPr>
          <p:nvPr>
            <p:ph type="pic" sz="quarter" idx="12"/>
          </p:nvPr>
        </p:nvSpPr>
        <p:spPr>
          <a:xfrm>
            <a:off x="6601858" y="2197506"/>
            <a:ext cx="1826962" cy="1801671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7" name="图片占位符 3"/>
          <p:cNvSpPr>
            <a:spLocks noGrp="1"/>
          </p:cNvSpPr>
          <p:nvPr>
            <p:ph type="pic" sz="quarter" idx="13"/>
          </p:nvPr>
        </p:nvSpPr>
        <p:spPr>
          <a:xfrm>
            <a:off x="9471435" y="2197506"/>
            <a:ext cx="1826962" cy="1801671"/>
          </a:xfrm>
          <a:prstGeom prst="ellipse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展示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4403725" y="1765300"/>
            <a:ext cx="2228850" cy="311732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747667" y="1765300"/>
            <a:ext cx="2252813" cy="311732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9115573" y="1765300"/>
            <a:ext cx="2252813" cy="311732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6421120"/>
            <a:ext cx="12192000" cy="4368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60450" y="323240"/>
            <a:ext cx="7890690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7189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bg1"/>
                </a:solidFill>
              </a:rPr>
              <a:t>含弘光大  继往开来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7189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bg1"/>
                </a:solidFill>
              </a:rPr>
              <a:t>www.swu.edu.cn</a:t>
            </a:r>
            <a:endParaRPr lang="zh-CN" altLang="en-US" sz="1400" spc="300" dirty="0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4" name="等腰三角形 53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62525" y="1276777"/>
            <a:ext cx="2260572" cy="4717620"/>
          </a:xfrm>
          <a:prstGeom prst="roundRect">
            <a:avLst>
              <a:gd name="adj" fmla="val 10617"/>
            </a:avLst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4004961" y="2119313"/>
            <a:ext cx="4241427" cy="26844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715952" y="1751014"/>
            <a:ext cx="4975753" cy="29266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7" name="图片占位符 3"/>
          <p:cNvSpPr>
            <a:spLocks noGrp="1"/>
          </p:cNvSpPr>
          <p:nvPr>
            <p:ph type="pic" sz="quarter" idx="11"/>
          </p:nvPr>
        </p:nvSpPr>
        <p:spPr>
          <a:xfrm>
            <a:off x="9593580" y="3253729"/>
            <a:ext cx="1743260" cy="23710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57274" y="323240"/>
            <a:ext cx="7893865" cy="480131"/>
          </a:xfrm>
          <a:noFill/>
        </p:spPr>
        <p:txBody>
          <a:bodyPr wrap="square" lIns="0" rtlCol="0">
            <a:spAutoFit/>
          </a:bodyPr>
          <a:lstStyle>
            <a:lvl1pPr>
              <a:defRPr lang="zh-CN" altLang="en-US" sz="2800" b="1" dirty="0">
                <a:solidFill>
                  <a:srgbClr val="1D2974"/>
                </a:solidFill>
                <a:latin typeface="+mj-ea"/>
                <a:cs typeface="+mn-cs"/>
              </a:defRPr>
            </a:lvl1pPr>
          </a:lstStyle>
          <a:p>
            <a:r>
              <a:rPr lang="zh-CN" altLang="en-US" sz="2800" b="1" dirty="0">
                <a:solidFill>
                  <a:srgbClr val="1D2974"/>
                </a:solidFill>
                <a:latin typeface="+mj-ea"/>
                <a:ea typeface="+mj-ea"/>
              </a:rPr>
              <a:t>请输入你的标题或观点</a:t>
            </a:r>
            <a:endParaRPr lang="en-US" altLang="zh-CN" sz="2800" b="1" dirty="0">
              <a:solidFill>
                <a:srgbClr val="1D2974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6307" y="80385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5300" y="6380500"/>
            <a:ext cx="112014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 userDrawn="1"/>
        </p:nvSpPr>
        <p:spPr>
          <a:xfrm>
            <a:off x="495300" y="6426922"/>
            <a:ext cx="2120900" cy="36933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r>
              <a:rPr lang="zh-CN" altLang="en-US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含弘光大  继往开来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9404350" y="6426922"/>
            <a:ext cx="2347413" cy="369332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lvl="0" algn="r"/>
            <a:r>
              <a:rPr lang="en-US" altLang="zh-CN" sz="1400" spc="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www.swu.edu.cn</a:t>
            </a:r>
            <a:endParaRPr lang="zh-CN" altLang="en-US" sz="1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540944" y="390295"/>
            <a:ext cx="421475" cy="346021"/>
            <a:chOff x="540944" y="369189"/>
            <a:chExt cx="421475" cy="346021"/>
          </a:xfrm>
        </p:grpSpPr>
        <p:sp>
          <p:nvSpPr>
            <p:cNvPr id="52" name="等腰三角形 51"/>
            <p:cNvSpPr/>
            <p:nvPr userDrawn="1"/>
          </p:nvSpPr>
          <p:spPr>
            <a:xfrm rot="5400000">
              <a:off x="517080" y="393053"/>
              <a:ext cx="346021" cy="298294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 userDrawn="1"/>
          </p:nvSpPr>
          <p:spPr>
            <a:xfrm rot="5400000">
              <a:off x="696063" y="418887"/>
              <a:ext cx="286086" cy="246626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图片 5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05" y="1"/>
            <a:ext cx="2756569" cy="11626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5F3-CFA0-43AC-95F1-F06D2333B3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D481-3F20-4588-8E0E-ADBEB6EB8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EE5F3-CFA0-43AC-95F1-F06D2333B3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7D481-3F20-4588-8E0E-ADBEB6EB82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" t="28072" r="-262" b="5554"/>
          <a:stretch>
            <a:fillRect/>
          </a:stretch>
        </p:blipFill>
        <p:spPr>
          <a:xfrm>
            <a:off x="6654800" y="1905000"/>
            <a:ext cx="5551714" cy="3700069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多层网络</a:t>
            </a:r>
            <a:r>
              <a:rPr lang="zh-CN" altLang="en-US"/>
              <a:t>构建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5000" lnSpcReduction="20000"/>
          </a:bodyPr>
          <a:lstStyle/>
          <a:p>
            <a:r>
              <a:rPr lang="zh-CN" altLang="en-US" dirty="0"/>
              <a:t>汇报人：</a:t>
            </a:r>
            <a:r>
              <a:rPr lang="zh-CN" altLang="en-US" dirty="0"/>
              <a:t>董哲凡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507402" y="1866900"/>
            <a:ext cx="4315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bg1">
                    <a:alpha val="33000"/>
                  </a:schemeClr>
                </a:solidFill>
              </a:rPr>
              <a:t>含弘光大</a:t>
            </a:r>
            <a:endParaRPr lang="zh-CN" altLang="en-US" sz="4800" b="1" dirty="0">
              <a:solidFill>
                <a:schemeClr val="bg1">
                  <a:alpha val="33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07402" y="2607934"/>
            <a:ext cx="4315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bg1">
                    <a:alpha val="33000"/>
                  </a:schemeClr>
                </a:solidFill>
              </a:rPr>
              <a:t>继往开来</a:t>
            </a:r>
            <a:endParaRPr lang="zh-CN" altLang="en-US" sz="4800" b="1" dirty="0">
              <a:solidFill>
                <a:schemeClr val="bg1">
                  <a:alpha val="33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rPr lang="zh-CN" altLang="en-US"/>
              <a:t>物理层（</a:t>
            </a:r>
            <a:r>
              <a:rPr lang="en-US" altLang="zh-CN"/>
              <a:t>Physical</a:t>
            </a:r>
            <a:r>
              <a:t>层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3" name="图片 2" descr="Physical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4825" y="802640"/>
            <a:ext cx="8027670" cy="53517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83830" y="15690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物理接触基于近距离检测，如：蓝牙</a:t>
            </a:r>
            <a:r>
              <a:rPr lang="en-US" altLang="zh-CN"/>
              <a:t>/WiFi</a:t>
            </a:r>
            <a:r>
              <a:rPr lang="zh-CN" altLang="en-US"/>
              <a:t>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就餐情况包含就餐时间与</a:t>
            </a:r>
            <a:r>
              <a:rPr lang="zh-CN" altLang="en-US"/>
              <a:t>地点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t>行为层（</a:t>
            </a:r>
            <a:r>
              <a:rPr lang="en-US" altLang="zh-CN"/>
              <a:t>Behavior</a:t>
            </a:r>
            <a:r>
              <a:t>层）</a:t>
            </a:r>
          </a:p>
        </p:txBody>
      </p:sp>
      <p:pic>
        <p:nvPicPr>
          <p:cNvPr id="7" name="图片 6" descr="Behavior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94665" y="977265"/>
            <a:ext cx="8070850" cy="53803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70825" y="16065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捕捉行为相似与协作关系，</a:t>
            </a:r>
            <a:endParaRPr lang="zh-CN" altLang="en-US"/>
          </a:p>
          <a:p>
            <a:r>
              <a:rPr lang="zh-CN" altLang="en-US"/>
              <a:t>如：参加</a:t>
            </a:r>
            <a:r>
              <a:rPr>
                <a:sym typeface="+mn-ea"/>
              </a:rPr>
              <a:t>同一活动、</a:t>
            </a:r>
            <a:r>
              <a:rPr lang="en-US">
                <a:sym typeface="+mn-ea"/>
              </a:rPr>
              <a:t>app</a:t>
            </a:r>
            <a:r>
              <a:rPr lang="zh-CN">
                <a:sym typeface="+mn-ea"/>
              </a:rPr>
              <a:t>使用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rPr lang="zh-CN" altLang="en-US"/>
              <a:t>教育层（</a:t>
            </a:r>
            <a:r>
              <a:rPr lang="en-US" altLang="zh-CN"/>
              <a:t>Education</a:t>
            </a:r>
            <a:r>
              <a:t>层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3" name="图片 2" descr="Education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331470" y="905510"/>
            <a:ext cx="8348345" cy="55657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28000" y="1640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反映学生之间选修课</a:t>
            </a:r>
            <a:r>
              <a:rPr lang="zh-CN" altLang="en-US"/>
              <a:t>情况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rPr lang="zh-CN" altLang="en-US"/>
              <a:t>多层</a:t>
            </a:r>
            <a:r>
              <a:rPr lang="zh-CN" altLang="en-US"/>
              <a:t>网络</a:t>
            </a:r>
            <a:endParaRPr lang="zh-CN" altLang="en-US"/>
          </a:p>
        </p:txBody>
      </p:sp>
      <p:pic>
        <p:nvPicPr>
          <p:cNvPr id="3" name="图片 2" descr="Multiplex3D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7991" t="22327" r="21788" b="22495"/>
          <a:stretch>
            <a:fillRect/>
          </a:stretch>
        </p:blipFill>
        <p:spPr>
          <a:xfrm>
            <a:off x="2239645" y="941070"/>
            <a:ext cx="7107555" cy="520636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99060" y="941070"/>
            <a:ext cx="2314575" cy="2626995"/>
            <a:chOff x="-159" y="4612"/>
            <a:chExt cx="3645" cy="4137"/>
          </a:xfrm>
        </p:grpSpPr>
        <p:pic>
          <p:nvPicPr>
            <p:cNvPr id="5" name="图片 4" descr="Multiplex3D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16111" t="18143" r="71910" b="76094"/>
            <a:stretch>
              <a:fillRect/>
            </a:stretch>
          </p:blipFill>
          <p:spPr>
            <a:xfrm>
              <a:off x="-159" y="4612"/>
              <a:ext cx="3486" cy="1118"/>
            </a:xfrm>
            <a:prstGeom prst="rect">
              <a:avLst/>
            </a:prstGeom>
          </p:spPr>
        </p:pic>
        <p:pic>
          <p:nvPicPr>
            <p:cNvPr id="6" name="图片 5" descr="Multiplex3D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16111" t="10288" r="71910" b="82996"/>
            <a:stretch>
              <a:fillRect/>
            </a:stretch>
          </p:blipFill>
          <p:spPr>
            <a:xfrm>
              <a:off x="-60" y="5895"/>
              <a:ext cx="3486" cy="1303"/>
            </a:xfrm>
            <a:prstGeom prst="rect">
              <a:avLst/>
            </a:prstGeom>
          </p:spPr>
        </p:pic>
        <p:pic>
          <p:nvPicPr>
            <p:cNvPr id="7" name="图片 6" descr="Multiplex3D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16111" t="3392" r="71910" b="90640"/>
            <a:stretch>
              <a:fillRect/>
            </a:stretch>
          </p:blipFill>
          <p:spPr>
            <a:xfrm>
              <a:off x="0" y="7591"/>
              <a:ext cx="3486" cy="11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rPr lang="zh-CN" altLang="en-US"/>
              <a:t>后续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7070" y="1129030"/>
            <a:ext cx="110839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、优化网络的</a:t>
            </a:r>
            <a:r>
              <a:rPr lang="zh-CN" altLang="en-US"/>
              <a:t>构建</a:t>
            </a:r>
            <a:br>
              <a:rPr lang="zh-CN" altLang="en-US"/>
            </a:b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进一步了解多层识别的方法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占位符 44" descr="图片包含 天空, 树, 户外, 道路&#10;&#10;自动生成的说明"/>
          <p:cNvPicPr>
            <a:picLocks noGrp="1" noChangeAspect="1"/>
          </p:cNvPicPr>
          <p:nvPr>
            <p:ph type="pic" sz="quarter" idx="11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55" r="2855"/>
          <a:stretch>
            <a:fillRect/>
          </a:stretch>
        </p:blipFill>
        <p:spPr/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感</a:t>
            </a:r>
            <a:r>
              <a:rPr lang="zh-CN" altLang="en-US" b="1" dirty="0">
                <a:solidFill>
                  <a:srgbClr val="1D2974"/>
                </a:solidFill>
              </a:rPr>
              <a:t>谢</a:t>
            </a:r>
            <a:r>
              <a:rPr lang="zh-CN" altLang="en-US" b="1" dirty="0"/>
              <a:t>观看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450" y="324228"/>
            <a:ext cx="7890690" cy="478155"/>
          </a:xfrm>
        </p:spPr>
        <p:txBody>
          <a:bodyPr/>
          <a:p>
            <a:r>
              <a:rPr lang="zh-CN" altLang="en-US"/>
              <a:t>数据集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2445" y="8909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1D2974"/>
                </a:solidFill>
              </a:rPr>
              <a:t>https://studentlife.cs.dartmouth.edu/dataset.html</a:t>
            </a:r>
            <a:endParaRPr lang="en-US" altLang="zh-CN">
              <a:solidFill>
                <a:srgbClr val="1D2974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" y="1259205"/>
            <a:ext cx="9843770" cy="49917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ZTA2ZDZjZGM5ZmI2MGQ2OTUwMWQ5N2U0YzEyMGY5OTAifQ=="/>
</p:tagLst>
</file>

<file path=ppt/theme/theme1.xml><?xml version="1.0" encoding="utf-8"?>
<a:theme xmlns:a="http://schemas.openxmlformats.org/drawingml/2006/main" name="Office 主题​​">
  <a:themeElements>
    <a:clrScheme name="西南大学专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2974"/>
      </a:accent1>
      <a:accent2>
        <a:srgbClr val="26379A"/>
      </a:accent2>
      <a:accent3>
        <a:srgbClr val="8A97E2"/>
      </a:accent3>
      <a:accent4>
        <a:srgbClr val="AA71E2"/>
      </a:accent4>
      <a:accent5>
        <a:srgbClr val="84C4D7"/>
      </a:accent5>
      <a:accent6>
        <a:srgbClr val="FFE483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WPS 演示</Application>
  <PresentationFormat>宽屏</PresentationFormat>
  <Paragraphs>36</Paragraphs>
  <Slides>8</Slides>
  <Notes>66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Inter</vt:lpstr>
      <vt:lpstr>Segoe Print</vt:lpstr>
      <vt:lpstr>微软雅黑</vt:lpstr>
      <vt:lpstr>Arial Black</vt:lpstr>
      <vt:lpstr>Arial Unicode MS</vt:lpstr>
      <vt:lpstr>等线</vt:lpstr>
      <vt:lpstr>Calibri</vt:lpstr>
      <vt:lpstr>Office 主题​​</vt:lpstr>
      <vt:lpstr>多层社交网络</vt:lpstr>
      <vt:lpstr>PowerPoint 演示文稿</vt:lpstr>
      <vt:lpstr>多层影响力聚合</vt:lpstr>
      <vt:lpstr>PowerPoint 演示文稿</vt:lpstr>
      <vt:lpstr>PowerPoint 演示文稿</vt:lpstr>
      <vt:lpstr>后续工作</vt:lpstr>
      <vt:lpstr>感谢观看</vt:lpstr>
      <vt:lpstr>数据集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潭 李</dc:creator>
  <cp:lastModifiedBy>董哲凡</cp:lastModifiedBy>
  <cp:revision>666</cp:revision>
  <dcterms:created xsi:type="dcterms:W3CDTF">2019-01-23T02:51:00Z</dcterms:created>
  <dcterms:modified xsi:type="dcterms:W3CDTF">2025-11-08T03:14:45Z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639DD52FC57C455DA67A795F9492EA1F_12</vt:lpwstr>
  </property>
  <property fmtid="{D5CDD505-2E9C-101B-9397-08002B2CF9AE}" pid="3" name="KSOProductBuildVer">
    <vt:lpwstr>2052-12.1.0.21915</vt:lpwstr>
  </property>
</Properties>
</file>